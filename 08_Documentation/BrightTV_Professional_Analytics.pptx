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63" r:id="rId4"/>
    <p:sldId id="264" r:id="rId5"/>
    <p:sldId id="265" r:id="rId6"/>
    <p:sldId id="266" r:id="rId7"/>
    <p:sldId id="258" r:id="rId8"/>
    <p:sldId id="267" r:id="rId9"/>
    <p:sldId id="268" r:id="rId10"/>
    <p:sldId id="269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188AA-D474-49EC-932A-CA32958CC966}" type="datetimeFigureOut">
              <a:rPr lang="en-ZA" smtClean="0"/>
              <a:t>2026/08/10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241055-1C4A-4745-ACDE-699A26C4A73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029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41055-1C4A-4745-ACDE-699A26C4A734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5534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41C0B-6272-E556-148C-5D67603DE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9869A-CD24-F9B4-7B11-51C55B7D63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179B7-6905-5147-7E9F-6979A308C9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EBBE9-C635-19A0-2D66-DAC5EFB24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41055-1C4A-4745-ACDE-699A26C4A734}" type="slidenum">
              <a:rPr lang="en-ZA" smtClean="0"/>
              <a:t>12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1897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E0C8-8F3C-7899-5B5A-9B6D7CF1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431C1-4964-4D41-2E72-A3F35B68E9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9B05F-9097-B94F-1473-A2845CF32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FBEA7-FCFE-242E-4071-CF78831CD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41055-1C4A-4745-ACDE-699A26C4A734}" type="slidenum">
              <a:rPr lang="en-ZA" smtClean="0"/>
              <a:t>13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4171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00AB7-3007-6C70-FCB8-21E59A7E8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85BE23-17D6-90D8-CAC5-5F38DF7C1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39A2D-E455-AAA1-EF50-80D9C98B1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1CE9A-4493-5818-9C54-0497E6C098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241055-1C4A-4745-ACDE-699A26C4A734}" type="slidenum">
              <a:rPr lang="en-ZA" smtClean="0"/>
              <a:t>14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2378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v_backgroun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34440"/>
            <a:ext cx="731520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E25741-CA7C-DCAE-21DB-BB894CA4BC3A}"/>
              </a:ext>
            </a:extLst>
          </p:cNvPr>
          <p:cNvSpPr txBox="1"/>
          <p:nvPr/>
        </p:nvSpPr>
        <p:spPr>
          <a:xfrm>
            <a:off x="839449" y="389744"/>
            <a:ext cx="780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BRIGHT TV  Viewership ANALYSIS</a:t>
            </a:r>
            <a:endParaRPr lang="en-ZA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4C56-A1EF-C5A1-4ED5-111A70996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ED7ADD-0F10-3F4C-D1A6-DE357D36A0FF}"/>
              </a:ext>
            </a:extLst>
          </p:cNvPr>
          <p:cNvSpPr/>
          <p:nvPr/>
        </p:nvSpPr>
        <p:spPr>
          <a:xfrm>
            <a:off x="344773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E00390-965A-090C-9835-64CF169BAAAD}"/>
              </a:ext>
            </a:extLst>
          </p:cNvPr>
          <p:cNvSpPr/>
          <p:nvPr/>
        </p:nvSpPr>
        <p:spPr>
          <a:xfrm>
            <a:off x="594360" y="1783080"/>
            <a:ext cx="5715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CE8A9-97D4-A1A0-67DE-5FA3FE59F6C5}"/>
              </a:ext>
            </a:extLst>
          </p:cNvPr>
          <p:cNvSpPr txBox="1"/>
          <p:nvPr/>
        </p:nvSpPr>
        <p:spPr>
          <a:xfrm>
            <a:off x="7040880" y="1170655"/>
            <a:ext cx="198272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Aptos"/>
              </a:rPr>
              <a:t>KEY INSIGHT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546D6D-0548-4511-711F-B189FCD5C859}"/>
              </a:ext>
            </a:extLst>
          </p:cNvPr>
          <p:cNvSpPr txBox="1"/>
          <p:nvPr/>
        </p:nvSpPr>
        <p:spPr>
          <a:xfrm>
            <a:off x="8321040" y="274320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of subscribers are male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054772-D047-F876-94FE-AB4ABDFFF896}"/>
              </a:ext>
            </a:extLst>
          </p:cNvPr>
          <p:cNvSpPr txBox="1"/>
          <p:nvPr/>
        </p:nvSpPr>
        <p:spPr>
          <a:xfrm>
            <a:off x="7178040" y="4736592"/>
            <a:ext cx="685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11%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C4F81A-D9C2-50C8-959A-89D04F4DAFC7}"/>
              </a:ext>
            </a:extLst>
          </p:cNvPr>
          <p:cNvSpPr txBox="1"/>
          <p:nvPr/>
        </p:nvSpPr>
        <p:spPr>
          <a:xfrm>
            <a:off x="7178040" y="5074920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C2D2DC"/>
                </a:solidFill>
                <a:latin typeface="Aptos"/>
              </a:rPr>
              <a:t>Female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EF36B-9C2A-BD58-DD83-D3F46013D7A4}"/>
              </a:ext>
            </a:extLst>
          </p:cNvPr>
          <p:cNvSpPr txBox="1"/>
          <p:nvPr/>
        </p:nvSpPr>
        <p:spPr>
          <a:xfrm>
            <a:off x="7040880" y="5669280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 dirty="0">
                <a:solidFill>
                  <a:srgbClr val="BCCCD6"/>
                </a:solidFill>
                <a:latin typeface="Aptos"/>
              </a:rPr>
              <a:t>Data quality flag: 4% of subscribers have no recorded gender.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B23EE5-E338-9E5D-1F54-5BCF873B8BA3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1FED84-8201-9774-A8EF-842847F83EC6}"/>
              </a:ext>
            </a:extLst>
          </p:cNvPr>
          <p:cNvSpPr txBox="1"/>
          <p:nvPr/>
        </p:nvSpPr>
        <p:spPr>
          <a:xfrm>
            <a:off x="594360" y="756496"/>
            <a:ext cx="5694014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031416-CAC4-9C16-82B2-97F1E56A85CC}"/>
              </a:ext>
            </a:extLst>
          </p:cNvPr>
          <p:cNvSpPr txBox="1"/>
          <p:nvPr/>
        </p:nvSpPr>
        <p:spPr>
          <a:xfrm>
            <a:off x="594360" y="756496"/>
            <a:ext cx="4436023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43046"/>
                </a:solidFill>
                <a:latin typeface="Aptos"/>
              </a:rPr>
              <a:t>Race Profile of Subscribers</a:t>
            </a:r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1B60F1-1E1C-E7F0-DA7C-EA40069C8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71481"/>
            <a:ext cx="5715000" cy="447363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7EB9AC-6CF0-E2FB-25AB-12F454BB4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67" y="1572990"/>
            <a:ext cx="5811061" cy="487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89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59B55-EB10-2FF3-3B42-D47184FF4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564A5D-2984-E9ED-8EE3-BFC1813C9D46}"/>
              </a:ext>
            </a:extLst>
          </p:cNvPr>
          <p:cNvSpPr/>
          <p:nvPr/>
        </p:nvSpPr>
        <p:spPr>
          <a:xfrm>
            <a:off x="344773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648239-FA52-5921-29FD-1F8D2B04FC57}"/>
              </a:ext>
            </a:extLst>
          </p:cNvPr>
          <p:cNvSpPr txBox="1"/>
          <p:nvPr/>
        </p:nvSpPr>
        <p:spPr>
          <a:xfrm>
            <a:off x="621792" y="1379404"/>
            <a:ext cx="319645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dirty="0">
                <a:solidFill>
                  <a:srgbClr val="69747B"/>
                </a:solidFill>
                <a:latin typeface="Aptos"/>
              </a:rPr>
              <a:t>A clear view of the current subscriber </a:t>
            </a:r>
            <a:r>
              <a:rPr lang="en-US" sz="1200" dirty="0">
                <a:solidFill>
                  <a:srgbClr val="69747B"/>
                </a:solidFill>
                <a:latin typeface="Aptos"/>
              </a:rPr>
              <a:t> Growth</a:t>
            </a:r>
            <a:endParaRPr sz="1200" b="0" dirty="0">
              <a:solidFill>
                <a:srgbClr val="69747B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2B5012-5969-934F-FCEA-429868EF3D42}"/>
              </a:ext>
            </a:extLst>
          </p:cNvPr>
          <p:cNvSpPr/>
          <p:nvPr/>
        </p:nvSpPr>
        <p:spPr>
          <a:xfrm>
            <a:off x="594360" y="1783080"/>
            <a:ext cx="5715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2605F-EE03-5C8B-1F8F-B11796EC1A87}"/>
              </a:ext>
            </a:extLst>
          </p:cNvPr>
          <p:cNvSpPr txBox="1"/>
          <p:nvPr/>
        </p:nvSpPr>
        <p:spPr>
          <a:xfrm>
            <a:off x="7040880" y="2055168"/>
            <a:ext cx="198272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Aptos"/>
              </a:rPr>
              <a:t>KEY INSIGHT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82BD9-F3EA-79F0-BCCF-CABECF97DC9F}"/>
              </a:ext>
            </a:extLst>
          </p:cNvPr>
          <p:cNvSpPr txBox="1"/>
          <p:nvPr/>
        </p:nvSpPr>
        <p:spPr>
          <a:xfrm>
            <a:off x="8321040" y="274320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of subscribers are male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A403F-0DEA-C706-9A77-86D65893F0C9}"/>
              </a:ext>
            </a:extLst>
          </p:cNvPr>
          <p:cNvSpPr txBox="1"/>
          <p:nvPr/>
        </p:nvSpPr>
        <p:spPr>
          <a:xfrm>
            <a:off x="7178040" y="4736592"/>
            <a:ext cx="685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11%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4D04EE-FB3E-70CB-52A7-D3EC7270CA7B}"/>
              </a:ext>
            </a:extLst>
          </p:cNvPr>
          <p:cNvSpPr txBox="1"/>
          <p:nvPr/>
        </p:nvSpPr>
        <p:spPr>
          <a:xfrm>
            <a:off x="7178040" y="5074920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C2D2DC"/>
                </a:solidFill>
                <a:latin typeface="Aptos"/>
              </a:rPr>
              <a:t>Female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56A2C8-FC54-D7B2-ADDF-9480A88C0444}"/>
              </a:ext>
            </a:extLst>
          </p:cNvPr>
          <p:cNvSpPr txBox="1"/>
          <p:nvPr/>
        </p:nvSpPr>
        <p:spPr>
          <a:xfrm>
            <a:off x="7040880" y="5669280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 dirty="0">
                <a:solidFill>
                  <a:srgbClr val="BCCCD6"/>
                </a:solidFill>
                <a:latin typeface="Aptos"/>
              </a:rPr>
              <a:t>Data quality flag: 4% of subscribers have no recorded gender.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F26320-6178-3452-9B91-BB4188DE4419}"/>
              </a:ext>
            </a:extLst>
          </p:cNvPr>
          <p:cNvSpPr txBox="1"/>
          <p:nvPr/>
        </p:nvSpPr>
        <p:spPr>
          <a:xfrm>
            <a:off x="594360" y="6473952"/>
            <a:ext cx="5303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50" b="1">
                <a:solidFill>
                  <a:srgbClr val="69747B"/>
                </a:solidFill>
                <a:latin typeface="Aptos"/>
              </a:rPr>
              <a:t>BRIGHTTV  •  CUSTOMER VALUE MANAGEMENT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74ED46-02F4-D39B-FD45-81141ECC2431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7BC02E-BD81-54B4-37AB-2991FE53B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73" y="1783080"/>
            <a:ext cx="5751601" cy="436168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2BA0733-D3F2-413A-DA90-4954457E228E}"/>
              </a:ext>
            </a:extLst>
          </p:cNvPr>
          <p:cNvSpPr txBox="1"/>
          <p:nvPr/>
        </p:nvSpPr>
        <p:spPr>
          <a:xfrm>
            <a:off x="594360" y="756496"/>
            <a:ext cx="5694014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5D8B8D-7416-E59B-63F8-AC3999FF5DE9}"/>
              </a:ext>
            </a:extLst>
          </p:cNvPr>
          <p:cNvSpPr txBox="1"/>
          <p:nvPr/>
        </p:nvSpPr>
        <p:spPr>
          <a:xfrm>
            <a:off x="594360" y="756496"/>
            <a:ext cx="4590937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ZA" sz="2700" b="1" dirty="0">
                <a:solidFill>
                  <a:srgbClr val="143046"/>
                </a:solidFill>
                <a:latin typeface="Aptos"/>
              </a:rPr>
              <a:t>Total Subscribers by Growth</a:t>
            </a:r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8E585E-4648-56B0-0895-26283EEC0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947" y="2479921"/>
            <a:ext cx="5687219" cy="366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342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9FDD9-9A1F-9903-3179-747A64CB8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45D345-C411-0F04-6D76-D1490F27A6E1}"/>
              </a:ext>
            </a:extLst>
          </p:cNvPr>
          <p:cNvSpPr/>
          <p:nvPr/>
        </p:nvSpPr>
        <p:spPr>
          <a:xfrm>
            <a:off x="344773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77E74-78A9-9BDA-692F-A4A3769888EB}"/>
              </a:ext>
            </a:extLst>
          </p:cNvPr>
          <p:cNvSpPr txBox="1"/>
          <p:nvPr/>
        </p:nvSpPr>
        <p:spPr>
          <a:xfrm>
            <a:off x="621792" y="1379404"/>
            <a:ext cx="319645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dirty="0">
                <a:solidFill>
                  <a:srgbClr val="69747B"/>
                </a:solidFill>
                <a:latin typeface="Aptos"/>
              </a:rPr>
              <a:t>A clear view of the current subscriber </a:t>
            </a:r>
            <a:r>
              <a:rPr lang="en-US" sz="1200" dirty="0">
                <a:solidFill>
                  <a:srgbClr val="69747B"/>
                </a:solidFill>
                <a:latin typeface="Aptos"/>
              </a:rPr>
              <a:t> Growth</a:t>
            </a:r>
            <a:endParaRPr sz="1200" b="0" dirty="0">
              <a:solidFill>
                <a:srgbClr val="69747B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A6C14A3-B71C-5B01-AAEE-2BBEC1D5B24B}"/>
              </a:ext>
            </a:extLst>
          </p:cNvPr>
          <p:cNvSpPr/>
          <p:nvPr/>
        </p:nvSpPr>
        <p:spPr>
          <a:xfrm>
            <a:off x="594360" y="1783080"/>
            <a:ext cx="5715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A8C6A-FB09-46BD-092C-6847E7D69BF4}"/>
              </a:ext>
            </a:extLst>
          </p:cNvPr>
          <p:cNvSpPr txBox="1"/>
          <p:nvPr/>
        </p:nvSpPr>
        <p:spPr>
          <a:xfrm>
            <a:off x="7040880" y="2055168"/>
            <a:ext cx="198272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Aptos"/>
              </a:rPr>
              <a:t>KEY INSIGHT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24F274-3574-8A36-3F86-6F3F723D0B70}"/>
              </a:ext>
            </a:extLst>
          </p:cNvPr>
          <p:cNvSpPr txBox="1"/>
          <p:nvPr/>
        </p:nvSpPr>
        <p:spPr>
          <a:xfrm>
            <a:off x="8321040" y="274320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of subscribers are male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48C3A4-BEBF-AFBF-299A-6268DEF313B5}"/>
              </a:ext>
            </a:extLst>
          </p:cNvPr>
          <p:cNvSpPr txBox="1"/>
          <p:nvPr/>
        </p:nvSpPr>
        <p:spPr>
          <a:xfrm>
            <a:off x="7178040" y="4736592"/>
            <a:ext cx="685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11%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16D7B9-D737-F0BD-078F-DF27F01C0121}"/>
              </a:ext>
            </a:extLst>
          </p:cNvPr>
          <p:cNvSpPr txBox="1"/>
          <p:nvPr/>
        </p:nvSpPr>
        <p:spPr>
          <a:xfrm>
            <a:off x="7178040" y="5074920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C2D2DC"/>
                </a:solidFill>
                <a:latin typeface="Aptos"/>
              </a:rPr>
              <a:t>Female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43836E-30D2-BE23-44C3-6AF8E722C9BB}"/>
              </a:ext>
            </a:extLst>
          </p:cNvPr>
          <p:cNvSpPr txBox="1"/>
          <p:nvPr/>
        </p:nvSpPr>
        <p:spPr>
          <a:xfrm>
            <a:off x="7040880" y="5669280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 dirty="0">
                <a:solidFill>
                  <a:srgbClr val="BCCCD6"/>
                </a:solidFill>
                <a:latin typeface="Aptos"/>
              </a:rPr>
              <a:t>Data quality flag: 4% of subscribers have no recorded gender.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36C8D-513C-AD4A-FE2E-029CFC2BAA26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E6DCD8-6F53-790B-5FD4-910A8E3A3CDE}"/>
              </a:ext>
            </a:extLst>
          </p:cNvPr>
          <p:cNvSpPr txBox="1"/>
          <p:nvPr/>
        </p:nvSpPr>
        <p:spPr>
          <a:xfrm>
            <a:off x="594360" y="756496"/>
            <a:ext cx="5694014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BD6277-854B-3894-A5C5-775232FF45A7}"/>
              </a:ext>
            </a:extLst>
          </p:cNvPr>
          <p:cNvSpPr txBox="1"/>
          <p:nvPr/>
        </p:nvSpPr>
        <p:spPr>
          <a:xfrm>
            <a:off x="594360" y="756496"/>
            <a:ext cx="4825616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ZA" sz="2700" b="1" dirty="0">
                <a:solidFill>
                  <a:srgbClr val="143046"/>
                </a:solidFill>
                <a:latin typeface="Aptos"/>
              </a:rPr>
              <a:t>Total Subscribers by Ethnicity</a:t>
            </a:r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83B07B-8445-A826-B33D-F7394657C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90796"/>
            <a:ext cx="5666582" cy="424424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A7DBFA-1353-CF07-2221-42ECA8304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383" y="2481130"/>
            <a:ext cx="5811061" cy="424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843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7632-9664-C846-B927-390E9362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9DBDCF-7699-5B01-19E0-3B2C51D1702F}"/>
              </a:ext>
            </a:extLst>
          </p:cNvPr>
          <p:cNvSpPr/>
          <p:nvPr/>
        </p:nvSpPr>
        <p:spPr>
          <a:xfrm>
            <a:off x="344773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02682-1918-C250-6762-7E8605BAE974}"/>
              </a:ext>
            </a:extLst>
          </p:cNvPr>
          <p:cNvSpPr txBox="1"/>
          <p:nvPr/>
        </p:nvSpPr>
        <p:spPr>
          <a:xfrm>
            <a:off x="621792" y="1379404"/>
            <a:ext cx="319645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dirty="0">
                <a:solidFill>
                  <a:srgbClr val="69747B"/>
                </a:solidFill>
                <a:latin typeface="Aptos"/>
              </a:rPr>
              <a:t>A clear view of the current subscriber </a:t>
            </a:r>
            <a:r>
              <a:rPr lang="en-US" sz="1200" dirty="0">
                <a:solidFill>
                  <a:srgbClr val="69747B"/>
                </a:solidFill>
                <a:latin typeface="Aptos"/>
              </a:rPr>
              <a:t> Growth</a:t>
            </a:r>
            <a:endParaRPr sz="1200" b="0" dirty="0">
              <a:solidFill>
                <a:srgbClr val="69747B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B175C1-1C56-B49A-53F4-FA0421C14463}"/>
              </a:ext>
            </a:extLst>
          </p:cNvPr>
          <p:cNvSpPr/>
          <p:nvPr/>
        </p:nvSpPr>
        <p:spPr>
          <a:xfrm>
            <a:off x="594360" y="1783080"/>
            <a:ext cx="5715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410590-3969-6E24-FB31-CA657A1EB641}"/>
              </a:ext>
            </a:extLst>
          </p:cNvPr>
          <p:cNvSpPr txBox="1"/>
          <p:nvPr/>
        </p:nvSpPr>
        <p:spPr>
          <a:xfrm>
            <a:off x="7040880" y="2055168"/>
            <a:ext cx="198272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Aptos"/>
              </a:rPr>
              <a:t>KEY INSIGHT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11F33-ABFB-320D-1634-1A282B443C78}"/>
              </a:ext>
            </a:extLst>
          </p:cNvPr>
          <p:cNvSpPr txBox="1"/>
          <p:nvPr/>
        </p:nvSpPr>
        <p:spPr>
          <a:xfrm>
            <a:off x="8321040" y="274320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of subscribers are male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F41E80-2F11-A1B4-5179-8053DFF2BAD4}"/>
              </a:ext>
            </a:extLst>
          </p:cNvPr>
          <p:cNvSpPr txBox="1"/>
          <p:nvPr/>
        </p:nvSpPr>
        <p:spPr>
          <a:xfrm>
            <a:off x="7178040" y="4736592"/>
            <a:ext cx="685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11%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42D788-D0EE-34A4-5D56-1F2DD9483387}"/>
              </a:ext>
            </a:extLst>
          </p:cNvPr>
          <p:cNvSpPr txBox="1"/>
          <p:nvPr/>
        </p:nvSpPr>
        <p:spPr>
          <a:xfrm>
            <a:off x="7178040" y="5074920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C2D2DC"/>
                </a:solidFill>
                <a:latin typeface="Aptos"/>
              </a:rPr>
              <a:t>Female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9970E8-0E11-2E85-0032-D7F67D2D14F2}"/>
              </a:ext>
            </a:extLst>
          </p:cNvPr>
          <p:cNvSpPr txBox="1"/>
          <p:nvPr/>
        </p:nvSpPr>
        <p:spPr>
          <a:xfrm>
            <a:off x="7040880" y="5669280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 dirty="0">
                <a:solidFill>
                  <a:srgbClr val="BCCCD6"/>
                </a:solidFill>
                <a:latin typeface="Aptos"/>
              </a:rPr>
              <a:t>Data quality flag: 4% of subscribers have no recorded gender.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9AECF0-1EA0-0CF9-26AF-82E8C6F6EA94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40C1F7-53D4-1542-4547-D6FC171951B7}"/>
              </a:ext>
            </a:extLst>
          </p:cNvPr>
          <p:cNvSpPr txBox="1"/>
          <p:nvPr/>
        </p:nvSpPr>
        <p:spPr>
          <a:xfrm>
            <a:off x="594360" y="756496"/>
            <a:ext cx="5694014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4C8617-B54E-7FBD-8846-AD275ABF1CD8}"/>
              </a:ext>
            </a:extLst>
          </p:cNvPr>
          <p:cNvSpPr txBox="1"/>
          <p:nvPr/>
        </p:nvSpPr>
        <p:spPr>
          <a:xfrm>
            <a:off x="594360" y="756496"/>
            <a:ext cx="5091330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43046"/>
                </a:solidFill>
                <a:latin typeface="Aptos"/>
              </a:rPr>
              <a:t>S</a:t>
            </a:r>
            <a:r>
              <a:rPr lang="en-ZA" sz="2700" b="1" dirty="0" err="1">
                <a:solidFill>
                  <a:srgbClr val="143046"/>
                </a:solidFill>
                <a:latin typeface="Aptos"/>
              </a:rPr>
              <a:t>ubscribers</a:t>
            </a:r>
            <a:r>
              <a:rPr lang="en-ZA" sz="2700" b="1" dirty="0">
                <a:solidFill>
                  <a:srgbClr val="143046"/>
                </a:solidFill>
                <a:latin typeface="Aptos"/>
              </a:rPr>
              <a:t> by Age distribution</a:t>
            </a:r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29915B-387C-F78C-7DDC-BEA188D0D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10" y="1656403"/>
            <a:ext cx="5763312" cy="43786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D6FFBF-A2FE-F627-3551-20418ACF1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59" y="2454157"/>
            <a:ext cx="5874587" cy="348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34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3490-FD65-F185-AAC8-AA95B6353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088F84-E66C-4D66-8E78-C4830375F919}"/>
              </a:ext>
            </a:extLst>
          </p:cNvPr>
          <p:cNvSpPr/>
          <p:nvPr/>
        </p:nvSpPr>
        <p:spPr>
          <a:xfrm>
            <a:off x="344773" y="0"/>
            <a:ext cx="12191695" cy="6858000"/>
          </a:xfrm>
          <a:prstGeom prst="rect">
            <a:avLst/>
          </a:prstGeom>
          <a:solidFill>
            <a:srgbClr val="F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AEA5C-14FD-AE65-4EBA-F028A823B15A}"/>
              </a:ext>
            </a:extLst>
          </p:cNvPr>
          <p:cNvSpPr txBox="1"/>
          <p:nvPr/>
        </p:nvSpPr>
        <p:spPr>
          <a:xfrm>
            <a:off x="621792" y="1379404"/>
            <a:ext cx="3196452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dirty="0">
                <a:solidFill>
                  <a:srgbClr val="69747B"/>
                </a:solidFill>
                <a:latin typeface="Aptos"/>
              </a:rPr>
              <a:t>A clear view of the current subscriber </a:t>
            </a:r>
            <a:r>
              <a:rPr lang="en-US" sz="1200" dirty="0">
                <a:solidFill>
                  <a:srgbClr val="69747B"/>
                </a:solidFill>
                <a:latin typeface="Aptos"/>
              </a:rPr>
              <a:t> Growth</a:t>
            </a:r>
            <a:endParaRPr sz="1200" b="0" dirty="0">
              <a:solidFill>
                <a:srgbClr val="69747B"/>
              </a:solidFill>
              <a:latin typeface="Apto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5BF40C4-FA32-0F72-072B-24D4DC67060E}"/>
              </a:ext>
            </a:extLst>
          </p:cNvPr>
          <p:cNvSpPr/>
          <p:nvPr/>
        </p:nvSpPr>
        <p:spPr>
          <a:xfrm>
            <a:off x="594360" y="1783080"/>
            <a:ext cx="5715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15106-9064-7502-12CD-2354515175D4}"/>
              </a:ext>
            </a:extLst>
          </p:cNvPr>
          <p:cNvSpPr txBox="1"/>
          <p:nvPr/>
        </p:nvSpPr>
        <p:spPr>
          <a:xfrm>
            <a:off x="7040880" y="2055167"/>
            <a:ext cx="198272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 dirty="0">
                <a:latin typeface="Aptos"/>
              </a:rPr>
              <a:t>KEY INSIGHT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62E92-78FF-5D3C-08A2-5443E186DA14}"/>
              </a:ext>
            </a:extLst>
          </p:cNvPr>
          <p:cNvSpPr txBox="1"/>
          <p:nvPr/>
        </p:nvSpPr>
        <p:spPr>
          <a:xfrm>
            <a:off x="8321040" y="2743200"/>
            <a:ext cx="2651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of subscribers are male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61C25A-AA22-CDAD-53CE-C72201C274C5}"/>
              </a:ext>
            </a:extLst>
          </p:cNvPr>
          <p:cNvSpPr txBox="1"/>
          <p:nvPr/>
        </p:nvSpPr>
        <p:spPr>
          <a:xfrm>
            <a:off x="7178040" y="4736592"/>
            <a:ext cx="685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Aptos"/>
              </a:rPr>
              <a:t>11%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31E509-2531-B14C-3B60-1EBBBF4D39FB}"/>
              </a:ext>
            </a:extLst>
          </p:cNvPr>
          <p:cNvSpPr txBox="1"/>
          <p:nvPr/>
        </p:nvSpPr>
        <p:spPr>
          <a:xfrm>
            <a:off x="7178040" y="5074920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C2D2DC"/>
                </a:solidFill>
                <a:latin typeface="Aptos"/>
              </a:rPr>
              <a:t>Female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D16786-95D1-77C4-89F9-AADF9F132674}"/>
              </a:ext>
            </a:extLst>
          </p:cNvPr>
          <p:cNvSpPr txBox="1"/>
          <p:nvPr/>
        </p:nvSpPr>
        <p:spPr>
          <a:xfrm>
            <a:off x="7040880" y="5669280"/>
            <a:ext cx="40690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50" b="0" dirty="0">
                <a:solidFill>
                  <a:srgbClr val="BCCCD6"/>
                </a:solidFill>
                <a:latin typeface="Aptos"/>
              </a:rPr>
              <a:t>Data quality flag: 4% of subscribers have no recorded gender.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3FE208-1C25-D707-C572-F29A590BF3FD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C31443-1B5B-8427-33EB-9A90EE44072A}"/>
              </a:ext>
            </a:extLst>
          </p:cNvPr>
          <p:cNvSpPr txBox="1"/>
          <p:nvPr/>
        </p:nvSpPr>
        <p:spPr>
          <a:xfrm>
            <a:off x="594360" y="756496"/>
            <a:ext cx="5694014" cy="5078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B5C789-0821-1A81-0EBB-2A7E1BF0FDA2}"/>
              </a:ext>
            </a:extLst>
          </p:cNvPr>
          <p:cNvSpPr txBox="1"/>
          <p:nvPr/>
        </p:nvSpPr>
        <p:spPr>
          <a:xfrm>
            <a:off x="594360" y="756496"/>
            <a:ext cx="5479129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700" b="1" dirty="0">
                <a:solidFill>
                  <a:srgbClr val="143046"/>
                </a:solidFill>
                <a:latin typeface="Aptos"/>
              </a:rPr>
              <a:t>Content Consumption by channel</a:t>
            </a:r>
            <a:endParaRPr sz="2700" b="1" dirty="0">
              <a:solidFill>
                <a:srgbClr val="143046"/>
              </a:solidFill>
              <a:latin typeface="Apto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2FEA94-E0F2-F69B-0B36-73C4A0DF3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3" y="1783080"/>
            <a:ext cx="5687568" cy="431842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1ACE16-4D71-FE58-6379-87F4FC386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380" y="2587650"/>
            <a:ext cx="5605620" cy="344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596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C46A67-893F-F53D-238B-357696FDF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524656"/>
            <a:ext cx="5851660" cy="57979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57C23-24CE-48BA-1762-BFD512250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67ABEF-79CD-AAD9-A8E3-41C954FBC9C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>
            <a:extLst>
              <a:ext uri="{FF2B5EF4-FFF2-40B4-BE49-F238E27FC236}">
                <a16:creationId xmlns:a16="http://schemas.microsoft.com/office/drawing/2014/main" id="{F6763F59-A4D3-6A90-EB1B-BE37A2F10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060BE3-A2F1-2ABB-BA05-44755BCCAE55}"/>
              </a:ext>
            </a:extLst>
          </p:cNvPr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287A2-DED5-0ED1-0945-CD7F7AB5F554}"/>
              </a:ext>
            </a:extLst>
          </p:cNvPr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7C4A8C-207E-C23E-EDC6-A107C10C3FD3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4B7D3-B80D-0867-1F32-1A86C5B23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89743"/>
            <a:ext cx="6200082" cy="589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07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004E3-14CD-B972-E4AC-A20A81B2C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DDED9E-F706-8E96-403E-EB9CEBE5C97D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>
            <a:extLst>
              <a:ext uri="{FF2B5EF4-FFF2-40B4-BE49-F238E27FC236}">
                <a16:creationId xmlns:a16="http://schemas.microsoft.com/office/drawing/2014/main" id="{97F58442-1525-53AF-E815-52A08690B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038711-0105-F35F-3575-13D10C8EB7C1}"/>
              </a:ext>
            </a:extLst>
          </p:cNvPr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62E74-C055-EC1B-3D26-B6C7EE9A303E}"/>
              </a:ext>
            </a:extLst>
          </p:cNvPr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682F9A-0DAB-093A-42F8-638D7FC08604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7AC086-7A1E-4CC9-89C0-49031CB26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9666"/>
            <a:ext cx="6476950" cy="613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99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91D4-7BDE-6F92-46CA-D303319BA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7F63EA-C018-74DF-8228-2B880A248EF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>
            <a:extLst>
              <a:ext uri="{FF2B5EF4-FFF2-40B4-BE49-F238E27FC236}">
                <a16:creationId xmlns:a16="http://schemas.microsoft.com/office/drawing/2014/main" id="{C39A92B9-4D35-8653-4BBB-91C31E742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0078F1-3098-2A4D-165D-725D0C1B7A0A}"/>
              </a:ext>
            </a:extLst>
          </p:cNvPr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AAD45-8D72-9AF0-D334-20D0A018AA5C}"/>
              </a:ext>
            </a:extLst>
          </p:cNvPr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DDEB1E-508A-4F7E-CD7F-140D021352D8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E91C9-DAB0-65F1-A76D-6D5236542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314794"/>
            <a:ext cx="6631149" cy="633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48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3935-438C-8E7F-4529-C4B149162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B7497B-CA43-09F3-FC49-EEB3A0DA46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>
            <a:extLst>
              <a:ext uri="{FF2B5EF4-FFF2-40B4-BE49-F238E27FC236}">
                <a16:creationId xmlns:a16="http://schemas.microsoft.com/office/drawing/2014/main" id="{571DC780-4750-5080-462D-019903A2E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45C2B-E9A6-9C16-9270-70526DEB7E62}"/>
              </a:ext>
            </a:extLst>
          </p:cNvPr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99DBC-F6D3-3C9E-70CC-E0D0FFB5E574}"/>
              </a:ext>
            </a:extLst>
          </p:cNvPr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8EE852-F3FA-FA47-DB51-689C983814E8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24F632-5954-773B-915F-7A2DF8D30D60}"/>
              </a:ext>
            </a:extLst>
          </p:cNvPr>
          <p:cNvSpPr txBox="1"/>
          <p:nvPr/>
        </p:nvSpPr>
        <p:spPr>
          <a:xfrm>
            <a:off x="449705" y="494675"/>
            <a:ext cx="5646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Initiatives to Grow Bright TV user Base</a:t>
            </a:r>
            <a:endParaRPr lang="en-ZA" sz="2400" b="1" dirty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EB8122-4C4C-265C-69BD-5B623265A9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5" y="956340"/>
            <a:ext cx="6250898" cy="28271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050786-9E1C-0C44-7032-779092F2F7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999084"/>
            <a:ext cx="6421037" cy="258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10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32A18-621C-680F-7A89-11C5661D5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EA114-2586-FED8-2A61-5074F156C2A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>
            <a:extLst>
              <a:ext uri="{FF2B5EF4-FFF2-40B4-BE49-F238E27FC236}">
                <a16:creationId xmlns:a16="http://schemas.microsoft.com/office/drawing/2014/main" id="{3E3990C7-4A62-4083-4089-BE2E0DCD1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D639C-1EC1-8B9A-772D-8E6B4C65B5AD}"/>
              </a:ext>
            </a:extLst>
          </p:cNvPr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CCA0FA-38D0-8572-6462-48F14DECEEF1}"/>
              </a:ext>
            </a:extLst>
          </p:cNvPr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C8D747-55AC-71F3-218D-9A73DE41F945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609B1-DDD0-12CE-3A08-9268DC3B66F4}"/>
              </a:ext>
            </a:extLst>
          </p:cNvPr>
          <p:cNvSpPr txBox="1"/>
          <p:nvPr/>
        </p:nvSpPr>
        <p:spPr>
          <a:xfrm>
            <a:off x="449705" y="494675"/>
            <a:ext cx="5646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Initiatives to Grow Bright TV user Base</a:t>
            </a:r>
            <a:endParaRPr lang="en-ZA" sz="2400" b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0AF1E-EC55-1AC0-F7DC-15191E8DB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705" y="1171811"/>
            <a:ext cx="6580682" cy="519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215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92F00-DEB1-F86E-0589-2D69BE85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9EE7F9-7B9F-8482-825E-1936EB53A3C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>
            <a:extLst>
              <a:ext uri="{FF2B5EF4-FFF2-40B4-BE49-F238E27FC236}">
                <a16:creationId xmlns:a16="http://schemas.microsoft.com/office/drawing/2014/main" id="{992A21C3-C0DA-B38B-4B77-EF4065B0F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0AF9B8-B026-9519-16E0-684749F03C9E}"/>
              </a:ext>
            </a:extLst>
          </p:cNvPr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5BB869-8B9F-B34F-B083-294583E71BF4}"/>
              </a:ext>
            </a:extLst>
          </p:cNvPr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353986-3876-D078-679C-0BCB44E57251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7A289-BE61-622D-AC4E-6DC6F9683D5A}"/>
              </a:ext>
            </a:extLst>
          </p:cNvPr>
          <p:cNvSpPr txBox="1"/>
          <p:nvPr/>
        </p:nvSpPr>
        <p:spPr>
          <a:xfrm>
            <a:off x="449705" y="494675"/>
            <a:ext cx="5646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Initiatives to Grow Bright TV user Base</a:t>
            </a:r>
            <a:endParaRPr lang="en-ZA" sz="2400" b="1" dirty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6BA8A-16FE-8915-1627-F36E05052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92" y="1171555"/>
            <a:ext cx="6710846" cy="21053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37A086-36E4-81F0-F82B-B4B02302CE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565488"/>
            <a:ext cx="6446970" cy="306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292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F5C2-C07E-E9A6-B21F-471A3A0CA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3EEC2-65CE-2C0A-4DD2-13F72202D61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3" name="Picture 2" descr="tv_background_clean.png">
            <a:extLst>
              <a:ext uri="{FF2B5EF4-FFF2-40B4-BE49-F238E27FC236}">
                <a16:creationId xmlns:a16="http://schemas.microsoft.com/office/drawing/2014/main" id="{40BBB29F-0E06-8B5B-E26F-0861ABA0E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685800"/>
            <a:ext cx="5074920" cy="5257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A47E4F-45FA-598C-9863-227B387F6876}"/>
              </a:ext>
            </a:extLst>
          </p:cNvPr>
          <p:cNvSpPr txBox="1"/>
          <p:nvPr/>
        </p:nvSpPr>
        <p:spPr>
          <a:xfrm>
            <a:off x="658368" y="196596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ABD538-C36A-F4BC-77B5-B76083B7E202}"/>
              </a:ext>
            </a:extLst>
          </p:cNvPr>
          <p:cNvSpPr txBox="1"/>
          <p:nvPr/>
        </p:nvSpPr>
        <p:spPr>
          <a:xfrm>
            <a:off x="594360" y="3108960"/>
            <a:ext cx="62179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C851B-4A5C-F66A-3D63-989726547276}"/>
              </a:ext>
            </a:extLst>
          </p:cNvPr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69747B"/>
                </a:solidFill>
                <a:latin typeface="Aptos"/>
              </a:rPr>
              <a:t>03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12FB5-75DD-5C08-EF38-A64BA5C47AA8}"/>
              </a:ext>
            </a:extLst>
          </p:cNvPr>
          <p:cNvSpPr txBox="1"/>
          <p:nvPr/>
        </p:nvSpPr>
        <p:spPr>
          <a:xfrm>
            <a:off x="449705" y="494675"/>
            <a:ext cx="5646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Conclusion</a:t>
            </a:r>
            <a:endParaRPr lang="en-ZA" sz="2400" b="1" dirty="0">
              <a:latin typeface="Aptos" panose="020B00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26972B-BB4C-DE34-DF51-50C635F4A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428" y="1175280"/>
            <a:ext cx="6769998" cy="476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4000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228</Words>
  <Application>Microsoft Office PowerPoint</Application>
  <PresentationFormat>Widescreen</PresentationFormat>
  <Paragraphs>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Jeffrey Tsoili</dc:creator>
  <cp:keywords/>
  <dc:description>generated using python-pptx</dc:description>
  <cp:lastModifiedBy>Jeffrey Tsoili</cp:lastModifiedBy>
  <cp:revision>2</cp:revision>
  <dcterms:created xsi:type="dcterms:W3CDTF">2013-01-27T09:14:16Z</dcterms:created>
  <dcterms:modified xsi:type="dcterms:W3CDTF">2026-08-10T00:07:12Z</dcterms:modified>
  <cp:category/>
</cp:coreProperties>
</file>